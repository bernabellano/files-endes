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CAF56FD-CADD-4BBF-8EB9-526D37D8EC6F}" type="datetimeFigureOut">
              <a:rPr lang="es-ES" smtClean="0"/>
              <a:t>10/11/2025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E2003D7-C870-4902-88F4-DA5B6C184B19}"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582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AF56FD-CADD-4BBF-8EB9-526D37D8EC6F}" type="datetimeFigureOut">
              <a:rPr lang="es-ES" smtClean="0"/>
              <a:t>10/11/2025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158601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CAF56FD-CADD-4BBF-8EB9-526D37D8EC6F}" type="datetimeFigureOut">
              <a:rPr lang="es-ES" smtClean="0"/>
              <a:t>10/11/2025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E2003D7-C870-4902-88F4-DA5B6C184B19}"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949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CAF56FD-CADD-4BBF-8EB9-526D37D8EC6F}" type="datetimeFigureOut">
              <a:rPr lang="es-ES" smtClean="0"/>
              <a:t>10/11/2025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401640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CAF56FD-CADD-4BBF-8EB9-526D37D8EC6F}" type="datetimeFigureOut">
              <a:rPr lang="es-ES" smtClean="0"/>
              <a:t>10/11/2025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2138584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CAF56FD-CADD-4BBF-8EB9-526D37D8EC6F}" type="datetimeFigureOut">
              <a:rPr lang="es-ES" smtClean="0"/>
              <a:t>10/11/2025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1596879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CAF56FD-CADD-4BBF-8EB9-526D37D8EC6F}" type="datetimeFigureOut">
              <a:rPr lang="es-ES" smtClean="0"/>
              <a:t>10/11/2025</a:t>
            </a:fld>
            <a:endParaRPr lang="es-E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ES"/>
          </a:p>
        </p:txBody>
      </p:sp>
      <p:sp>
        <p:nvSpPr>
          <p:cNvPr id="9" name="Slide Number Placeholder 8"/>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1798060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CAF56FD-CADD-4BBF-8EB9-526D37D8EC6F}" type="datetimeFigureOut">
              <a:rPr lang="es-ES" smtClean="0"/>
              <a:t>10/11/2025</a:t>
            </a:fld>
            <a:endParaRPr lang="es-E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E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E2003D7-C870-4902-88F4-DA5B6C184B19}" type="slidenum">
              <a:rPr lang="es-ES" smtClean="0"/>
              <a:t>‹Nº›</a:t>
            </a:fld>
            <a:endParaRPr lang="es-ES"/>
          </a:p>
        </p:txBody>
      </p:sp>
    </p:spTree>
    <p:extLst>
      <p:ext uri="{BB962C8B-B14F-4D97-AF65-F5344CB8AC3E}">
        <p14:creationId xmlns:p14="http://schemas.microsoft.com/office/powerpoint/2010/main" val="2166236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CAF56FD-CADD-4BBF-8EB9-526D37D8EC6F}" type="datetimeFigureOut">
              <a:rPr lang="es-ES" smtClean="0"/>
              <a:t>10/11/2025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4153973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AF56FD-CADD-4BBF-8EB9-526D37D8EC6F}" type="datetimeFigureOut">
              <a:rPr lang="es-ES" smtClean="0"/>
              <a:t>10/11/2025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3128018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AF56FD-CADD-4BBF-8EB9-526D37D8EC6F}" type="datetimeFigureOut">
              <a:rPr lang="es-ES" smtClean="0"/>
              <a:t>10/11/2025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E2003D7-C870-4902-88F4-DA5B6C184B19}" type="slidenum">
              <a:rPr lang="es-ES" smtClean="0"/>
              <a:t>‹Nº›</a:t>
            </a:fld>
            <a:endParaRPr lang="es-ES"/>
          </a:p>
        </p:txBody>
      </p:sp>
    </p:spTree>
    <p:extLst>
      <p:ext uri="{BB962C8B-B14F-4D97-AF65-F5344CB8AC3E}">
        <p14:creationId xmlns:p14="http://schemas.microsoft.com/office/powerpoint/2010/main" val="244006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CAF56FD-CADD-4BBF-8EB9-526D37D8EC6F}" type="datetimeFigureOut">
              <a:rPr lang="es-ES" smtClean="0"/>
              <a:t>10/11/2025</a:t>
            </a:fld>
            <a:endParaRPr lang="es-E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E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E2003D7-C870-4902-88F4-DA5B6C184B19}"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2331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2CC53-B9BD-EA63-6A67-4CB85D854DE3}"/>
              </a:ext>
            </a:extLst>
          </p:cNvPr>
          <p:cNvSpPr>
            <a:spLocks noGrp="1"/>
          </p:cNvSpPr>
          <p:nvPr>
            <p:ph type="ctrTitle"/>
          </p:nvPr>
        </p:nvSpPr>
        <p:spPr/>
        <p:txBody>
          <a:bodyPr/>
          <a:lstStyle/>
          <a:p>
            <a:r>
              <a:rPr lang="es-ES" dirty="0"/>
              <a:t>Métodos</a:t>
            </a:r>
          </a:p>
        </p:txBody>
      </p:sp>
      <p:sp>
        <p:nvSpPr>
          <p:cNvPr id="3" name="Subtítulo 2">
            <a:extLst>
              <a:ext uri="{FF2B5EF4-FFF2-40B4-BE49-F238E27FC236}">
                <a16:creationId xmlns:a16="http://schemas.microsoft.com/office/drawing/2014/main" id="{7B2D22DC-8904-79CA-5D1C-884A914D782D}"/>
              </a:ext>
            </a:extLst>
          </p:cNvPr>
          <p:cNvSpPr>
            <a:spLocks noGrp="1"/>
          </p:cNvSpPr>
          <p:nvPr>
            <p:ph type="subTitle" idx="1"/>
          </p:nvPr>
        </p:nvSpPr>
        <p:spPr/>
        <p:txBody>
          <a:bodyPr/>
          <a:lstStyle/>
          <a:p>
            <a:r>
              <a:rPr lang="es-ES" dirty="0"/>
              <a:t>JAVA</a:t>
            </a:r>
          </a:p>
        </p:txBody>
      </p:sp>
    </p:spTree>
    <p:extLst>
      <p:ext uri="{BB962C8B-B14F-4D97-AF65-F5344CB8AC3E}">
        <p14:creationId xmlns:p14="http://schemas.microsoft.com/office/powerpoint/2010/main" val="465000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11BD70-3BE7-E450-EAA8-0994AFAB7752}"/>
              </a:ext>
            </a:extLst>
          </p:cNvPr>
          <p:cNvSpPr>
            <a:spLocks noGrp="1"/>
          </p:cNvSpPr>
          <p:nvPr>
            <p:ph type="title"/>
          </p:nvPr>
        </p:nvSpPr>
        <p:spPr/>
        <p:txBody>
          <a:bodyPr/>
          <a:lstStyle/>
          <a:p>
            <a:r>
              <a:rPr lang="es-ES" dirty="0"/>
              <a:t>Concepto</a:t>
            </a:r>
          </a:p>
        </p:txBody>
      </p:sp>
      <p:sp>
        <p:nvSpPr>
          <p:cNvPr id="3" name="Marcador de contenido 2">
            <a:extLst>
              <a:ext uri="{FF2B5EF4-FFF2-40B4-BE49-F238E27FC236}">
                <a16:creationId xmlns:a16="http://schemas.microsoft.com/office/drawing/2014/main" id="{98BA3613-506C-3CE5-E97E-7CF585D2EABC}"/>
              </a:ext>
            </a:extLst>
          </p:cNvPr>
          <p:cNvSpPr>
            <a:spLocks noGrp="1"/>
          </p:cNvSpPr>
          <p:nvPr>
            <p:ph idx="1"/>
          </p:nvPr>
        </p:nvSpPr>
        <p:spPr/>
        <p:txBody>
          <a:bodyPr/>
          <a:lstStyle/>
          <a:p>
            <a:r>
              <a:rPr lang="es-ES" sz="1800" dirty="0"/>
              <a:t>Los programas informáticos suelen ser muy complejos, como para abordarlos en su conjunto. </a:t>
            </a:r>
          </a:p>
          <a:p>
            <a:r>
              <a:rPr lang="es-ES" sz="1800" dirty="0"/>
              <a:t>Por ello podemos </a:t>
            </a:r>
            <a:r>
              <a:rPr lang="es-ES" sz="1800" b="1" dirty="0"/>
              <a:t>dividir el problema en partes más simples e independientes</a:t>
            </a:r>
            <a:r>
              <a:rPr lang="es-ES" sz="1800" dirty="0"/>
              <a:t>, que pueden ser construidas y probadas por separado (</a:t>
            </a:r>
            <a:r>
              <a:rPr lang="es-ES" sz="1800" dirty="0" err="1"/>
              <a:t>modularización</a:t>
            </a:r>
            <a:r>
              <a:rPr lang="es-ES" sz="1800" dirty="0"/>
              <a:t>). </a:t>
            </a:r>
          </a:p>
          <a:p>
            <a:r>
              <a:rPr lang="es-ES" sz="1800" dirty="0"/>
              <a:t>Podemos definir un </a:t>
            </a:r>
            <a:r>
              <a:rPr lang="es-ES" sz="1800" b="1" dirty="0"/>
              <a:t>método</a:t>
            </a:r>
            <a:r>
              <a:rPr lang="es-ES" sz="1800" dirty="0"/>
              <a:t>, como un </a:t>
            </a:r>
            <a:r>
              <a:rPr lang="es-ES" sz="1800" b="1" dirty="0"/>
              <a:t>conjunto de instrucciones que se ejecuta para llevar a cabo una tarea concreta y bien definida</a:t>
            </a:r>
            <a:r>
              <a:rPr lang="es-ES" sz="1800" dirty="0"/>
              <a:t>. </a:t>
            </a:r>
          </a:p>
          <a:p>
            <a:r>
              <a:rPr lang="es-ES" sz="1800" dirty="0"/>
              <a:t>Con los métodos se </a:t>
            </a:r>
            <a:r>
              <a:rPr lang="es-ES" sz="1800" b="1" dirty="0"/>
              <a:t>evita reescribir código </a:t>
            </a:r>
            <a:r>
              <a:rPr lang="es-ES" sz="1800" dirty="0"/>
              <a:t>cada vez que esa tarea se quiera utilizar en un programa. </a:t>
            </a:r>
          </a:p>
          <a:p>
            <a:r>
              <a:rPr lang="es-ES" sz="1800" dirty="0"/>
              <a:t>Los métodos pueden ser definidos por nosotros, o pueden ser proporcionados por el propio java. </a:t>
            </a:r>
            <a:r>
              <a:rPr lang="es-ES" sz="1800" b="1" dirty="0"/>
              <a:t>Conviene poner antes de la definición de los métodos un comentario de lo que hace.</a:t>
            </a:r>
            <a:endParaRPr lang="es-ES" b="1" dirty="0"/>
          </a:p>
        </p:txBody>
      </p:sp>
    </p:spTree>
    <p:extLst>
      <p:ext uri="{BB962C8B-B14F-4D97-AF65-F5344CB8AC3E}">
        <p14:creationId xmlns:p14="http://schemas.microsoft.com/office/powerpoint/2010/main" val="3105186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Declaración de métodos</a:t>
            </a:r>
          </a:p>
        </p:txBody>
      </p:sp>
      <p:sp>
        <p:nvSpPr>
          <p:cNvPr id="3" name="2 Marcador de contenido"/>
          <p:cNvSpPr>
            <a:spLocks noGrp="1"/>
          </p:cNvSpPr>
          <p:nvPr>
            <p:ph idx="1"/>
          </p:nvPr>
        </p:nvSpPr>
        <p:spPr/>
        <p:txBody>
          <a:bodyPr>
            <a:normAutofit fontScale="92500" lnSpcReduction="20000"/>
          </a:bodyPr>
          <a:lstStyle/>
          <a:p>
            <a:r>
              <a:rPr lang="es-ES" dirty="0"/>
              <a:t>Para declarar un método lo primero que hay que especificar es la cabecera. La estructura de la misma sería: </a:t>
            </a:r>
          </a:p>
          <a:p>
            <a:r>
              <a:rPr lang="es-ES" b="1" dirty="0">
                <a:solidFill>
                  <a:schemeClr val="accent2">
                    <a:lumMod val="50000"/>
                  </a:schemeClr>
                </a:solidFill>
              </a:rPr>
              <a:t>visibilidad</a:t>
            </a:r>
            <a:r>
              <a:rPr lang="es-ES" dirty="0"/>
              <a:t> [</a:t>
            </a:r>
            <a:r>
              <a:rPr lang="es-ES" b="1" dirty="0" err="1">
                <a:solidFill>
                  <a:schemeClr val="accent1">
                    <a:lumMod val="50000"/>
                  </a:schemeClr>
                </a:solidFill>
              </a:rPr>
              <a:t>static</a:t>
            </a:r>
            <a:r>
              <a:rPr lang="es-ES" dirty="0"/>
              <a:t>] </a:t>
            </a:r>
            <a:r>
              <a:rPr lang="es-ES" b="1" dirty="0" err="1">
                <a:solidFill>
                  <a:schemeClr val="accent2">
                    <a:lumMod val="75000"/>
                  </a:schemeClr>
                </a:solidFill>
              </a:rPr>
              <a:t>tipoRetorno</a:t>
            </a:r>
            <a:r>
              <a:rPr lang="es-ES" dirty="0">
                <a:solidFill>
                  <a:schemeClr val="accent2">
                    <a:lumMod val="75000"/>
                  </a:schemeClr>
                </a:solidFill>
              </a:rPr>
              <a:t> </a:t>
            </a:r>
            <a:r>
              <a:rPr lang="es-ES" b="1" dirty="0">
                <a:solidFill>
                  <a:schemeClr val="bg2">
                    <a:lumMod val="50000"/>
                  </a:schemeClr>
                </a:solidFill>
              </a:rPr>
              <a:t>nombre</a:t>
            </a:r>
            <a:r>
              <a:rPr lang="es-ES" dirty="0"/>
              <a:t> ([lista de </a:t>
            </a:r>
            <a:r>
              <a:rPr lang="es-ES" b="1" dirty="0">
                <a:solidFill>
                  <a:srgbClr val="00B050"/>
                </a:solidFill>
              </a:rPr>
              <a:t>parámetros</a:t>
            </a:r>
            <a:r>
              <a:rPr lang="es-ES" dirty="0"/>
              <a:t>]) </a:t>
            </a:r>
          </a:p>
          <a:p>
            <a:pPr>
              <a:buFont typeface="Arial" panose="020B0604020202020204" pitchFamily="34" charset="0"/>
              <a:buChar char="•"/>
            </a:pPr>
            <a:r>
              <a:rPr lang="es-ES" dirty="0"/>
              <a:t>La </a:t>
            </a:r>
            <a:r>
              <a:rPr lang="es-ES" b="1" dirty="0">
                <a:solidFill>
                  <a:schemeClr val="accent2">
                    <a:lumMod val="50000"/>
                  </a:schemeClr>
                </a:solidFill>
              </a:rPr>
              <a:t>visibilidad</a:t>
            </a:r>
            <a:r>
              <a:rPr lang="es-ES" dirty="0">
                <a:solidFill>
                  <a:schemeClr val="accent2">
                    <a:lumMod val="50000"/>
                  </a:schemeClr>
                </a:solidFill>
              </a:rPr>
              <a:t> </a:t>
            </a:r>
            <a:r>
              <a:rPr lang="es-ES" dirty="0"/>
              <a:t>es un concepto que trataremos en la siguiente unidad. Podrá ser </a:t>
            </a:r>
            <a:r>
              <a:rPr lang="es-ES" dirty="0" err="1"/>
              <a:t>public</a:t>
            </a:r>
            <a:r>
              <a:rPr lang="es-ES" dirty="0"/>
              <a:t>, </a:t>
            </a:r>
            <a:r>
              <a:rPr lang="es-ES" dirty="0" err="1"/>
              <a:t>private</a:t>
            </a:r>
            <a:r>
              <a:rPr lang="es-ES" dirty="0"/>
              <a:t>, etc. </a:t>
            </a:r>
          </a:p>
          <a:p>
            <a:pPr>
              <a:buFont typeface="Arial" panose="020B0604020202020204" pitchFamily="34" charset="0"/>
              <a:buChar char="•"/>
            </a:pPr>
            <a:r>
              <a:rPr lang="es-ES" dirty="0"/>
              <a:t>Después de la visibilidad podrá aparecer o no la palabra </a:t>
            </a:r>
            <a:r>
              <a:rPr lang="es-ES" b="1" dirty="0" err="1">
                <a:solidFill>
                  <a:schemeClr val="accent1">
                    <a:lumMod val="50000"/>
                  </a:schemeClr>
                </a:solidFill>
              </a:rPr>
              <a:t>static</a:t>
            </a:r>
            <a:r>
              <a:rPr lang="es-ES" dirty="0"/>
              <a:t>, cuyo significado se abordará en unidades posteriores. </a:t>
            </a:r>
          </a:p>
          <a:p>
            <a:pPr>
              <a:buFont typeface="Arial" panose="020B0604020202020204" pitchFamily="34" charset="0"/>
              <a:buChar char="•"/>
            </a:pPr>
            <a:r>
              <a:rPr lang="es-ES" dirty="0"/>
              <a:t>El </a:t>
            </a:r>
            <a:r>
              <a:rPr lang="es-ES" b="1" dirty="0">
                <a:solidFill>
                  <a:schemeClr val="accent2">
                    <a:lumMod val="75000"/>
                  </a:schemeClr>
                </a:solidFill>
              </a:rPr>
              <a:t>tipo de retorno </a:t>
            </a:r>
            <a:r>
              <a:rPr lang="es-ES" dirty="0"/>
              <a:t>es el tipo de dato que tendrá el dato retornado por el método (</a:t>
            </a:r>
            <a:r>
              <a:rPr lang="es-ES" dirty="0" err="1"/>
              <a:t>int</a:t>
            </a:r>
            <a:r>
              <a:rPr lang="es-ES" dirty="0"/>
              <a:t>, </a:t>
            </a:r>
            <a:r>
              <a:rPr lang="es-ES" dirty="0" err="1"/>
              <a:t>double</a:t>
            </a:r>
            <a:r>
              <a:rPr lang="es-ES" dirty="0"/>
              <a:t>, </a:t>
            </a:r>
            <a:r>
              <a:rPr lang="es-ES" dirty="0" err="1"/>
              <a:t>String</a:t>
            </a:r>
            <a:r>
              <a:rPr lang="es-ES" dirty="0"/>
              <a:t>, etc.). En caso de que el método no devuelva nada, será </a:t>
            </a:r>
            <a:r>
              <a:rPr lang="es-ES" dirty="0" err="1"/>
              <a:t>void</a:t>
            </a:r>
            <a:r>
              <a:rPr lang="es-ES" dirty="0"/>
              <a:t>.</a:t>
            </a:r>
          </a:p>
          <a:p>
            <a:pPr>
              <a:buFont typeface="Arial" panose="020B0604020202020204" pitchFamily="34" charset="0"/>
              <a:buChar char="•"/>
            </a:pPr>
            <a:r>
              <a:rPr lang="es-ES" dirty="0"/>
              <a:t>El </a:t>
            </a:r>
            <a:r>
              <a:rPr lang="es-ES" b="1" dirty="0">
                <a:solidFill>
                  <a:schemeClr val="bg2">
                    <a:lumMod val="50000"/>
                  </a:schemeClr>
                </a:solidFill>
              </a:rPr>
              <a:t>nombre</a:t>
            </a:r>
            <a:r>
              <a:rPr lang="es-ES" dirty="0"/>
              <a:t> es libre, pero debe ser significativo, describir la acción del método, y seguir el convenio de nombrado </a:t>
            </a:r>
            <a:r>
              <a:rPr lang="es-ES" dirty="0" err="1"/>
              <a:t>camelCase</a:t>
            </a:r>
            <a:r>
              <a:rPr lang="es-ES" dirty="0"/>
              <a:t> (empezar por minúscula y marcar con una mayúscula el inicio de cada palabra. Por ejemplo, </a:t>
            </a:r>
            <a:r>
              <a:rPr lang="es-ES" dirty="0" err="1"/>
              <a:t>sumaEnteros</a:t>
            </a:r>
            <a:r>
              <a:rPr lang="es-ES" dirty="0"/>
              <a:t>).</a:t>
            </a:r>
          </a:p>
          <a:p>
            <a:pPr>
              <a:buFont typeface="Arial" panose="020B0604020202020204" pitchFamily="34" charset="0"/>
              <a:buChar char="•"/>
            </a:pPr>
            <a:r>
              <a:rPr lang="es-ES" b="1" dirty="0">
                <a:solidFill>
                  <a:srgbClr val="00B050"/>
                </a:solidFill>
              </a:rPr>
              <a:t>Parámetros</a:t>
            </a:r>
            <a:r>
              <a:rPr lang="es-ES" dirty="0"/>
              <a:t>: puede haber uno, varios o ninguno. Irán separados por comas y acompañados por el tipo de dato de cada uno. Los parámetros proporcionan información adicional al método para que efectúe su tarea. </a:t>
            </a:r>
          </a:p>
        </p:txBody>
      </p:sp>
    </p:spTree>
    <p:extLst>
      <p:ext uri="{BB962C8B-B14F-4D97-AF65-F5344CB8AC3E}">
        <p14:creationId xmlns:p14="http://schemas.microsoft.com/office/powerpoint/2010/main" val="2270529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Ejemplo</a:t>
            </a:r>
          </a:p>
        </p:txBody>
      </p:sp>
      <p:sp>
        <p:nvSpPr>
          <p:cNvPr id="3" name="2 Marcador de contenido"/>
          <p:cNvSpPr>
            <a:spLocks noGrp="1"/>
          </p:cNvSpPr>
          <p:nvPr>
            <p:ph idx="1"/>
          </p:nvPr>
        </p:nvSpPr>
        <p:spPr/>
        <p:txBody>
          <a:bodyPr/>
          <a:lstStyle/>
          <a:p>
            <a:endParaRPr lang="es-ES" dirty="0"/>
          </a:p>
          <a:p>
            <a:endParaRPr lang="es-ES" dirty="0"/>
          </a:p>
          <a:p>
            <a:r>
              <a:rPr lang="es-ES" dirty="0"/>
              <a:t>La línea anterior declara un método llamado sumar que devuelve un entero y recibe como parámetro dos números enteros. </a:t>
            </a:r>
          </a:p>
          <a:p>
            <a:r>
              <a:rPr lang="es-ES" dirty="0"/>
              <a:t>Para dar implementación o cuerpo a un método, utilizamos las llaves e incluimos las sentencias necesarias. </a:t>
            </a:r>
          </a:p>
          <a:p>
            <a:r>
              <a:rPr lang="es-ES" dirty="0"/>
              <a:t>Los métodos que devuelven algo deben terminar con una sentencia </a:t>
            </a:r>
            <a:r>
              <a:rPr lang="es-ES" b="1" dirty="0" err="1"/>
              <a:t>return</a:t>
            </a:r>
            <a:r>
              <a:rPr lang="es-ES" dirty="0"/>
              <a:t> acompañada de un valor del mismo tipo que el indicado en la cabecera. Por ejemplo, en el caso del método sumar:</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8923" y="1985096"/>
            <a:ext cx="4448955" cy="4961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3573" y="4850822"/>
            <a:ext cx="4776354" cy="990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6554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Parámetros</a:t>
            </a:r>
          </a:p>
        </p:txBody>
      </p:sp>
      <p:sp>
        <p:nvSpPr>
          <p:cNvPr id="3" name="2 Marcador de contenido"/>
          <p:cNvSpPr>
            <a:spLocks noGrp="1"/>
          </p:cNvSpPr>
          <p:nvPr>
            <p:ph idx="1"/>
          </p:nvPr>
        </p:nvSpPr>
        <p:spPr/>
        <p:txBody>
          <a:bodyPr/>
          <a:lstStyle/>
          <a:p>
            <a:r>
              <a:rPr lang="es-ES" b="1" dirty="0"/>
              <a:t>Parámetros: </a:t>
            </a:r>
            <a:r>
              <a:rPr lang="es-ES" dirty="0"/>
              <a:t>se denominan también parámetros formales. </a:t>
            </a:r>
          </a:p>
          <a:p>
            <a:r>
              <a:rPr lang="es-ES" dirty="0"/>
              <a:t>Son variables locales, que usa el método para sus cálculos. </a:t>
            </a:r>
          </a:p>
          <a:p>
            <a:r>
              <a:rPr lang="es-ES" b="1" dirty="0"/>
              <a:t>Su ámbito de existencia es el propio método</a:t>
            </a:r>
            <a:r>
              <a:rPr lang="es-ES" dirty="0"/>
              <a:t>, cuando éste acaba de ejecutarse se destruyen y se libera memoria. </a:t>
            </a:r>
          </a:p>
          <a:p>
            <a:r>
              <a:rPr lang="es-ES" b="1" dirty="0"/>
              <a:t>Se puede incluir cualquier cantidad de parámetros</a:t>
            </a:r>
            <a:r>
              <a:rPr lang="es-ES" dirty="0"/>
              <a:t>, es una decisión del programador, pudiendo no incluir ninguno, y pueden ser de cualquier tipo (primitivos, referencias, objetos, </a:t>
            </a:r>
            <a:r>
              <a:rPr lang="es-ES" dirty="0" err="1"/>
              <a:t>etc</a:t>
            </a:r>
            <a:r>
              <a:rPr lang="es-ES" dirty="0"/>
              <a:t>). </a:t>
            </a:r>
          </a:p>
          <a:p>
            <a:r>
              <a:rPr lang="es-ES" b="1" dirty="0"/>
              <a:t>No puede haber 2 parámetros con el mismo nombre</a:t>
            </a:r>
            <a:r>
              <a:rPr lang="es-ES" dirty="0"/>
              <a:t>. </a:t>
            </a:r>
          </a:p>
        </p:txBody>
      </p:sp>
    </p:spTree>
    <p:extLst>
      <p:ext uri="{BB962C8B-B14F-4D97-AF65-F5344CB8AC3E}">
        <p14:creationId xmlns:p14="http://schemas.microsoft.com/office/powerpoint/2010/main" val="4085003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Variables locales</a:t>
            </a:r>
          </a:p>
        </p:txBody>
      </p:sp>
      <p:sp>
        <p:nvSpPr>
          <p:cNvPr id="3" name="2 Marcador de contenido"/>
          <p:cNvSpPr>
            <a:spLocks noGrp="1"/>
          </p:cNvSpPr>
          <p:nvPr>
            <p:ph idx="1"/>
          </p:nvPr>
        </p:nvSpPr>
        <p:spPr/>
        <p:txBody>
          <a:bodyPr/>
          <a:lstStyle/>
          <a:p>
            <a:r>
              <a:rPr lang="es-ES" dirty="0"/>
              <a:t>Se </a:t>
            </a:r>
            <a:r>
              <a:rPr lang="es-ES" b="1" dirty="0"/>
              <a:t>declaran dentro del método</a:t>
            </a:r>
            <a:r>
              <a:rPr lang="es-ES" dirty="0"/>
              <a:t>, y </a:t>
            </a:r>
            <a:r>
              <a:rPr lang="es-ES" b="1" dirty="0"/>
              <a:t>existen solo mientras se ejecuta el mismo </a:t>
            </a:r>
            <a:r>
              <a:rPr lang="es-ES" dirty="0"/>
              <a:t>(solo son visibles para ese método), es decir, tienen carácter temporal, de ahí, que no tengan modo de acceso (</a:t>
            </a:r>
            <a:r>
              <a:rPr lang="es-ES" dirty="0" err="1"/>
              <a:t>public</a:t>
            </a:r>
            <a:r>
              <a:rPr lang="es-ES" dirty="0"/>
              <a:t>, prívate, </a:t>
            </a:r>
            <a:r>
              <a:rPr lang="es-ES" dirty="0" err="1"/>
              <a:t>protected</a:t>
            </a:r>
            <a:r>
              <a:rPr lang="es-ES" dirty="0"/>
              <a:t>). </a:t>
            </a:r>
          </a:p>
          <a:p>
            <a:r>
              <a:rPr lang="es-ES" dirty="0"/>
              <a:t>Una variable local del método, </a:t>
            </a:r>
            <a:r>
              <a:rPr lang="es-ES" b="1" dirty="0"/>
              <a:t>NO puede coincidir con el nombre de un parámetro</a:t>
            </a:r>
            <a:r>
              <a:rPr lang="es-ES" dirty="0"/>
              <a:t>, sin embargo, podemos usar el mismo nombre de una variable local en diferentes métodos, puesto que no interfieren entre ellos. </a:t>
            </a:r>
          </a:p>
          <a:p>
            <a:endParaRPr lang="es-ES" dirty="0"/>
          </a:p>
        </p:txBody>
      </p:sp>
    </p:spTree>
    <p:extLst>
      <p:ext uri="{BB962C8B-B14F-4D97-AF65-F5344CB8AC3E}">
        <p14:creationId xmlns:p14="http://schemas.microsoft.com/office/powerpoint/2010/main" val="241039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Ejemplo</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5701" y="2202871"/>
            <a:ext cx="7028399" cy="32696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3639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Llamada o invocación de métodos</a:t>
            </a:r>
          </a:p>
        </p:txBody>
      </p:sp>
      <p:sp>
        <p:nvSpPr>
          <p:cNvPr id="3" name="2 Marcador de contenido"/>
          <p:cNvSpPr>
            <a:spLocks noGrp="1"/>
          </p:cNvSpPr>
          <p:nvPr>
            <p:ph idx="1"/>
          </p:nvPr>
        </p:nvSpPr>
        <p:spPr/>
        <p:txBody>
          <a:bodyPr/>
          <a:lstStyle/>
          <a:p>
            <a:r>
              <a:rPr lang="es-ES" sz="1600" dirty="0"/>
              <a:t>Se efectúa en el </a:t>
            </a:r>
            <a:r>
              <a:rPr lang="es-ES" sz="1600" b="1" dirty="0"/>
              <a:t>método </a:t>
            </a:r>
            <a:r>
              <a:rPr lang="es-ES" sz="1600" b="1" dirty="0" err="1"/>
              <a:t>main</a:t>
            </a:r>
            <a:r>
              <a:rPr lang="es-ES" sz="1600" b="1" dirty="0"/>
              <a:t>, o desde cualquier otro método</a:t>
            </a:r>
            <a:r>
              <a:rPr lang="es-ES" sz="1600" dirty="0"/>
              <a:t>, y se hace por nombre. </a:t>
            </a:r>
          </a:p>
          <a:p>
            <a:r>
              <a:rPr lang="es-ES" sz="1600" b="1" dirty="0"/>
              <a:t>Sintaxis: </a:t>
            </a:r>
            <a:r>
              <a:rPr lang="es-ES" sz="1600" dirty="0"/>
              <a:t>Nombre del método (argumento, argumento…) </a:t>
            </a:r>
          </a:p>
          <a:p>
            <a:r>
              <a:rPr lang="es-ES" sz="1600" dirty="0"/>
              <a:t>Los argumentos se llaman también </a:t>
            </a:r>
            <a:r>
              <a:rPr lang="es-ES" sz="1600" b="1" dirty="0"/>
              <a:t>parámetros actuales o reales, </a:t>
            </a:r>
            <a:r>
              <a:rPr lang="es-ES" sz="1600" dirty="0"/>
              <a:t>no llevan tipo y están separados por comas. Son valores que se establecen en el programa llamante, y que se traspasan por valor , al método que llaman. </a:t>
            </a:r>
          </a:p>
          <a:p>
            <a:r>
              <a:rPr lang="es-ES" sz="1600" dirty="0"/>
              <a:t>Los argumentos se corresponden con los parámetros por posición y tipo. Si en el paso argumento-parámetro, el tipo recibido no coincide con el esperado, hay un error. Los argumentos pueden llamarse igual que los parámetros, aunque son variables diferentes</a:t>
            </a:r>
            <a:r>
              <a:rPr lang="es-ES" dirty="0"/>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330" y="4297071"/>
            <a:ext cx="3937700" cy="2234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108" y="4171513"/>
            <a:ext cx="5114925"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565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Paso de parámetros por valor</a:t>
            </a:r>
          </a:p>
        </p:txBody>
      </p:sp>
      <p:sp>
        <p:nvSpPr>
          <p:cNvPr id="3" name="2 Marcador de contenido"/>
          <p:cNvSpPr>
            <a:spLocks noGrp="1"/>
          </p:cNvSpPr>
          <p:nvPr>
            <p:ph idx="1"/>
          </p:nvPr>
        </p:nvSpPr>
        <p:spPr/>
        <p:txBody>
          <a:bodyPr/>
          <a:lstStyle/>
          <a:p>
            <a:r>
              <a:rPr lang="es-ES" dirty="0"/>
              <a:t>En java los argumentos siempre se pasan por valor. </a:t>
            </a:r>
          </a:p>
          <a:p>
            <a:r>
              <a:rPr lang="es-ES" dirty="0"/>
              <a:t>Cuando los argumentos son de </a:t>
            </a:r>
            <a:r>
              <a:rPr lang="es-ES" b="1" dirty="0"/>
              <a:t>tipos básicos </a:t>
            </a:r>
            <a:r>
              <a:rPr lang="es-ES" dirty="0"/>
              <a:t>o primitivos (byte, short, </a:t>
            </a:r>
            <a:r>
              <a:rPr lang="es-ES" dirty="0" err="1"/>
              <a:t>int</a:t>
            </a:r>
            <a:r>
              <a:rPr lang="es-ES" dirty="0"/>
              <a:t>, </a:t>
            </a:r>
            <a:r>
              <a:rPr lang="es-ES" dirty="0" err="1"/>
              <a:t>long</a:t>
            </a:r>
            <a:r>
              <a:rPr lang="es-ES" dirty="0"/>
              <a:t>, </a:t>
            </a:r>
            <a:r>
              <a:rPr lang="es-ES" dirty="0" err="1"/>
              <a:t>float</a:t>
            </a:r>
            <a:r>
              <a:rPr lang="es-ES" dirty="0"/>
              <a:t>, </a:t>
            </a:r>
            <a:r>
              <a:rPr lang="es-ES" dirty="0" err="1"/>
              <a:t>double</a:t>
            </a:r>
            <a:r>
              <a:rPr lang="es-ES" dirty="0"/>
              <a:t>, </a:t>
            </a:r>
            <a:r>
              <a:rPr lang="es-ES" dirty="0" err="1"/>
              <a:t>char</a:t>
            </a:r>
            <a:r>
              <a:rPr lang="es-ES" dirty="0"/>
              <a:t>, </a:t>
            </a:r>
            <a:r>
              <a:rPr lang="es-ES" dirty="0" err="1"/>
              <a:t>boolean</a:t>
            </a:r>
            <a:r>
              <a:rPr lang="es-ES" dirty="0"/>
              <a:t>), </a:t>
            </a:r>
            <a:r>
              <a:rPr lang="es-ES" b="1" dirty="0"/>
              <a:t>no se traspasan los propios datos, sino una copia de ellos</a:t>
            </a:r>
            <a:r>
              <a:rPr lang="es-ES" dirty="0"/>
              <a:t>, por tanto aunque los parámetros varíen su valor, los argumentos no lo varían. </a:t>
            </a:r>
          </a:p>
          <a:p>
            <a:r>
              <a:rPr lang="es-ES" dirty="0"/>
              <a:t>Cuando los argumentos son </a:t>
            </a:r>
            <a:r>
              <a:rPr lang="es-ES" b="1" dirty="0"/>
              <a:t>objetos o instancias de clase</a:t>
            </a:r>
            <a:r>
              <a:rPr lang="es-ES" dirty="0"/>
              <a:t>, se copia la dirección de memoria del argumento en el parámetro (el parámetro pasa a apuntar a la estructura de datos donde lo está haciendo el argumento), por tanto si se modifica la estructura de datos, esa modificación se mantiene. Cuando el método termina, se borra la copia de la referencia que se pasó como parámetro, pero la referencia original sigue apuntando al objeto sobre el que ha trabajado el método. </a:t>
            </a:r>
          </a:p>
        </p:txBody>
      </p:sp>
    </p:spTree>
    <p:extLst>
      <p:ext uri="{BB962C8B-B14F-4D97-AF65-F5344CB8AC3E}">
        <p14:creationId xmlns:p14="http://schemas.microsoft.com/office/powerpoint/2010/main" val="1501898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Método </a:t>
            </a:r>
            <a:r>
              <a:rPr lang="es-ES" dirty="0" err="1"/>
              <a:t>main</a:t>
            </a:r>
            <a:endParaRPr lang="es-ES" dirty="0"/>
          </a:p>
        </p:txBody>
      </p:sp>
      <p:sp>
        <p:nvSpPr>
          <p:cNvPr id="3" name="2 Marcador de contenido"/>
          <p:cNvSpPr>
            <a:spLocks noGrp="1"/>
          </p:cNvSpPr>
          <p:nvPr>
            <p:ph idx="1"/>
          </p:nvPr>
        </p:nvSpPr>
        <p:spPr>
          <a:xfrm>
            <a:off x="1097280" y="1831879"/>
            <a:ext cx="10058400" cy="4023360"/>
          </a:xfrm>
        </p:spPr>
        <p:txBody>
          <a:bodyPr/>
          <a:lstStyle/>
          <a:p>
            <a:r>
              <a:rPr lang="es-ES" dirty="0"/>
              <a:t>Es un </a:t>
            </a:r>
            <a:r>
              <a:rPr lang="es-ES" b="1" dirty="0"/>
              <a:t>método especial que da lugar al inicio del programa</a:t>
            </a:r>
            <a:r>
              <a:rPr lang="es-ES" dirty="0"/>
              <a:t>. Su cometido por tanto es iniciar el programa. </a:t>
            </a:r>
          </a:p>
          <a:p>
            <a:r>
              <a:rPr lang="es-ES" dirty="0"/>
              <a:t>No debe ser muy extenso en cuanto a líneas del código. Debe permanecer en un segundo plano, mientras los objetos interactúan entre sí.  En esencia debe limitarse a crear objetos e invocar sus métodos.</a:t>
            </a:r>
          </a:p>
          <a:p>
            <a:endParaRPr lang="es-ES" dirty="0"/>
          </a:p>
          <a:p>
            <a:r>
              <a:rPr lang="es-ES" dirty="0"/>
              <a:t>El </a:t>
            </a:r>
            <a:r>
              <a:rPr lang="es-ES" dirty="0" err="1"/>
              <a:t>main</a:t>
            </a:r>
            <a:r>
              <a:rPr lang="es-ES" dirty="0"/>
              <a:t> es </a:t>
            </a:r>
            <a:r>
              <a:rPr lang="es-ES" b="1" dirty="0"/>
              <a:t>estático</a:t>
            </a:r>
            <a:r>
              <a:rPr lang="es-ES" dirty="0"/>
              <a:t>, ya que cuando se invoca no existen objetos creados por que la ejecución del programa no ha comenzado. Es </a:t>
            </a:r>
            <a:r>
              <a:rPr lang="es-ES" b="1" dirty="0" err="1"/>
              <a:t>void</a:t>
            </a:r>
            <a:r>
              <a:rPr lang="es-ES" dirty="0"/>
              <a:t> porque su función es arrancar el programa, no devuelve su valor. Como parámetros tiene el </a:t>
            </a:r>
            <a:r>
              <a:rPr lang="es-ES" b="1" dirty="0" err="1"/>
              <a:t>String</a:t>
            </a:r>
            <a:r>
              <a:rPr lang="es-ES" b="1" dirty="0"/>
              <a:t>[] </a:t>
            </a:r>
            <a:r>
              <a:rPr lang="es-ES" b="1" dirty="0" err="1"/>
              <a:t>arg</a:t>
            </a:r>
            <a:r>
              <a:rPr lang="es-ES" dirty="0"/>
              <a:t> que es una tabla de cadenas de caracteres (se le suele llamar </a:t>
            </a:r>
            <a:r>
              <a:rPr lang="es-ES" dirty="0" err="1"/>
              <a:t>args</a:t>
            </a:r>
            <a:r>
              <a:rPr lang="es-ES" dirty="0"/>
              <a:t>, aunque no es obligatorio), donde el sistema operativo cargará los valores que debe enviar a nuestro programa</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3170" y="3309938"/>
            <a:ext cx="5373597" cy="458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849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Realizar Ejercicio 1</a:t>
            </a:r>
          </a:p>
        </p:txBody>
      </p:sp>
      <p:sp>
        <p:nvSpPr>
          <p:cNvPr id="3" name="Marcador de contenido 2">
            <a:extLst>
              <a:ext uri="{FF2B5EF4-FFF2-40B4-BE49-F238E27FC236}">
                <a16:creationId xmlns:a16="http://schemas.microsoft.com/office/drawing/2014/main" id="{30D68A59-2B2C-5196-CCF4-004863C3793C}"/>
              </a:ext>
            </a:extLst>
          </p:cNvPr>
          <p:cNvSpPr>
            <a:spLocks noGrp="1"/>
          </p:cNvSpPr>
          <p:nvPr>
            <p:ph idx="1"/>
          </p:nvPr>
        </p:nvSpPr>
        <p:spPr/>
        <p:txBody>
          <a:bodyPr/>
          <a:lstStyle/>
          <a:p>
            <a:endParaRPr lang="es-ES"/>
          </a:p>
        </p:txBody>
      </p:sp>
    </p:spTree>
    <p:extLst>
      <p:ext uri="{BB962C8B-B14F-4D97-AF65-F5344CB8AC3E}">
        <p14:creationId xmlns:p14="http://schemas.microsoft.com/office/powerpoint/2010/main" val="1605910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Realizar Ejercicio 2</a:t>
            </a:r>
          </a:p>
        </p:txBody>
      </p:sp>
      <p:sp>
        <p:nvSpPr>
          <p:cNvPr id="3" name="2 Marcador de contenido"/>
          <p:cNvSpPr>
            <a:spLocks noGrp="1"/>
          </p:cNvSpPr>
          <p:nvPr>
            <p:ph idx="1"/>
          </p:nvPr>
        </p:nvSpPr>
        <p:spPr/>
        <p:txBody>
          <a:bodyPr/>
          <a:lstStyle/>
          <a:p>
            <a:endParaRPr lang="es-ES"/>
          </a:p>
        </p:txBody>
      </p:sp>
    </p:spTree>
    <p:extLst>
      <p:ext uri="{BB962C8B-B14F-4D97-AF65-F5344CB8AC3E}">
        <p14:creationId xmlns:p14="http://schemas.microsoft.com/office/powerpoint/2010/main" val="2102391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Realizar Ejercicio 3</a:t>
            </a:r>
            <a:endParaRPr lang="es-ES" dirty="0"/>
          </a:p>
        </p:txBody>
      </p:sp>
      <p:sp>
        <p:nvSpPr>
          <p:cNvPr id="3" name="2 Marcador de contenido"/>
          <p:cNvSpPr>
            <a:spLocks noGrp="1"/>
          </p:cNvSpPr>
          <p:nvPr>
            <p:ph idx="1"/>
          </p:nvPr>
        </p:nvSpPr>
        <p:spPr/>
        <p:txBody>
          <a:bodyPr/>
          <a:lstStyle/>
          <a:p>
            <a:endParaRPr lang="es-ES"/>
          </a:p>
        </p:txBody>
      </p:sp>
    </p:spTree>
    <p:extLst>
      <p:ext uri="{BB962C8B-B14F-4D97-AF65-F5344CB8AC3E}">
        <p14:creationId xmlns:p14="http://schemas.microsoft.com/office/powerpoint/2010/main" val="1448862243"/>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643</TotalTime>
  <Words>986</Words>
  <Application>Microsoft Office PowerPoint</Application>
  <PresentationFormat>Panorámica</PresentationFormat>
  <Paragraphs>49</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Retrospección</vt:lpstr>
      <vt:lpstr>Métodos</vt:lpstr>
      <vt:lpstr>Concepto</vt:lpstr>
      <vt:lpstr>Declaración de métodos</vt:lpstr>
      <vt:lpstr>Ejemplo</vt:lpstr>
      <vt:lpstr>Parámetros</vt:lpstr>
      <vt:lpstr>Variables locales</vt:lpstr>
      <vt:lpstr>Ejemplo</vt:lpstr>
      <vt:lpstr>Llamada o invocación de métodos</vt:lpstr>
      <vt:lpstr>Paso de parámetros por valor</vt:lpstr>
      <vt:lpstr>Método main</vt:lpstr>
      <vt:lpstr>Realizar Ejercicio 1</vt:lpstr>
      <vt:lpstr>Realizar Ejercicio 2</vt:lpstr>
      <vt:lpstr>Realizar Ejercicio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y bloques fundamentales</dc:title>
  <dc:creator>David Prado</dc:creator>
  <cp:lastModifiedBy>David Prado</cp:lastModifiedBy>
  <cp:revision>282</cp:revision>
  <dcterms:created xsi:type="dcterms:W3CDTF">2022-09-04T14:19:54Z</dcterms:created>
  <dcterms:modified xsi:type="dcterms:W3CDTF">2025-11-10T08:45:55Z</dcterms:modified>
</cp:coreProperties>
</file>